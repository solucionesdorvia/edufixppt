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D9531E"/>
            </a:solidFill>
          </c:spPr>
          <c:cat>
            <c:strRef>
              <c:f>Sheet1!$A$2:$A$5</c:f>
              <c:strCache>
                <c:ptCount val="4"/>
                <c:pt idx="0">
                  <c:v>Alumno</c:v>
                </c:pt>
                <c:pt idx="1">
                  <c:v>Docente</c:v>
                </c:pt>
                <c:pt idx="2">
                  <c:v>Administrativo</c:v>
                </c:pt>
                <c:pt idx="3">
                  <c:v>Mantenimiento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270</c:v>
                </c:pt>
                <c:pt idx="1">
                  <c:v>72</c:v>
                </c:pt>
                <c:pt idx="2">
                  <c:v>36</c:v>
                </c:pt>
                <c:pt idx="3">
                  <c:v>27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1F8B63"/>
            </a:solidFill>
          </c:spPr>
          <c:cat>
            <c:strRef>
              <c:f>Sheet1!$A$2:$A$4</c:f>
              <c:strCache>
                <c:ptCount val="3"/>
                <c:pt idx="0">
                  <c:v>Falta de respuesta</c:v>
                </c:pt>
                <c:pt idx="1">
                  <c:v>Lentitud</c:v>
                </c:pt>
                <c:pt idx="2">
                  <c:v>No saber si se esta trabajando en ello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</c:v>
                </c:pt>
                <c:pt idx="1">
                  <c:v>135</c:v>
                </c:pt>
                <c:pt idx="2">
                  <c:v>126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</c:v>
                </c:pt>
              </c:strCache>
            </c:strRef>
          </c:tx>
          <c:spPr>
            <a:solidFill>
              <a:srgbClr val="D9531E"/>
            </a:solidFill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6</c:v>
                </c:pt>
                <c:pt idx="3">
                  <c:v>27</c:v>
                </c:pt>
                <c:pt idx="4">
                  <c:v>51</c:v>
                </c:pt>
                <c:pt idx="5">
                  <c:v>69</c:v>
                </c:pt>
                <c:pt idx="6">
                  <c:v>72</c:v>
                </c:pt>
                <c:pt idx="7">
                  <c:v>69</c:v>
                </c:pt>
                <c:pt idx="8">
                  <c:v>60</c:v>
                </c:pt>
                <c:pt idx="9">
                  <c:v>51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F8B63"/>
            </a:solidFill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405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972800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7200" b="1">
                <a:solidFill>
                  <a:srgbClr val="D9531E"/>
                </a:solidFill>
                <a:latin typeface="Calibri"/>
              </a:defRPr>
            </a:pPr>
            <a:r>
              <a:t>EduFix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5156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Reportes de mantenimiento en campus:</a:t>
            </a:r>
            <a:br/>
            <a:r>
              <a:t>claros, rápidos y accionables.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000" b="0">
                <a:solidFill>
                  <a:srgbClr val="C8D4E8"/>
                </a:solidFill>
                <a:latin typeface="Calibri"/>
              </a:defRPr>
            </a:pPr>
            <a:r>
              <a:t>Pitch comercial · 405 respuestas validadas · 21/04/2026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600" b="1">
                <a:solidFill>
                  <a:srgbClr val="1F8B63"/>
                </a:solidFill>
                <a:latin typeface="Calibri"/>
              </a:defRPr>
            </a:pPr>
            <a:r>
              <a:t>Primero, el dolor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97280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12000" b="1">
                <a:solidFill>
                  <a:srgbClr val="D9531E"/>
                </a:solidFill>
                <a:latin typeface="Calibri"/>
              </a:defRPr>
            </a:pPr>
            <a:r>
              <a:t>91,1%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100584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2400" b="0">
                <a:solidFill>
                  <a:srgbClr val="C8D4E8"/>
                </a:solidFill>
                <a:latin typeface="Calibri"/>
              </a:defRPr>
            </a:pPr>
            <a:r>
              <a:t>de las personas encuestadas suele ignorar el desperfecto.</a:t>
            </a:r>
            <a:br/>
            <a:r>
              <a:t>Sin dato no hay prioridad: el campus degrada y nadie actúa a tiempo.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22860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4000" b="1">
                <a:solidFill>
                  <a:srgbClr val="D9531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0584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El problema no es la rotura: es el sistema de reporte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0332720" cy="4114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200" b="0">
                <a:solidFill>
                  <a:srgbClr val="C8D4E8"/>
                </a:solidFill>
                <a:latin typeface="Calibri"/>
              </a:defRPr>
            </a:pPr>
            <a:r>
              <a:t>Más de 400 encuestas confirman un proceso ineficiente e informal.</a:t>
            </a:r>
            <a:br/>
            <a:br/>
            <a:r>
              <a:t>Hoy el flujo es informal: correos dispersos, pasillos, incertidumbre sobre el estado del arreglo.</a:t>
            </a:r>
            <a:br/>
            <a:r>
              <a:t>Eso genera desconfianza, retrabajo y una mala experiencia en el espacio donde estudian y enseñan.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05840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Lo medimos con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24128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400" b="0">
                <a:solidFill>
                  <a:srgbClr val="C8D4E8"/>
                </a:solidFill>
                <a:latin typeface="Calibri"/>
              </a:defRPr>
            </a:pPr>
            <a:r>
              <a:t>405 respuestas reales sobre percepción, frustración y disposición a cambiar de hábito.</a:t>
            </a:r>
            <a:br/>
            <a:br/>
            <a:r>
              <a:t>Nada de suposiciones: números para presentar a dirección, mantenimiento y comunidad educativa.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2286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600" b="1">
                <a:solidFill>
                  <a:srgbClr val="D9531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Hallazgos que abren la conversación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500" b="0">
                <a:solidFill>
                  <a:srgbClr val="C8D4E8"/>
                </a:solidFill>
                <a:latin typeface="Calibri"/>
              </a:defRPr>
            </a:pPr>
            <a:r>
              <a:t>Indicadores calculados desde tu dataset (solo lectura).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1371600"/>
            <a:ext cx="5333867" cy="1337310"/>
          </a:xfrm>
          <a:prstGeom prst="roundRect">
            <a:avLst>
              <a:gd name="adj" fmla="val 5000"/>
            </a:avLst>
          </a:prstGeom>
          <a:solidFill>
            <a:srgbClr val="122442"/>
          </a:solidFill>
          <a:ln w="9525">
            <a:solidFill>
              <a:srgbClr val="3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" y="1371600"/>
            <a:ext cx="134108" cy="133731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868" y="1467612"/>
            <a:ext cx="4748666" cy="5884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82,2%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8" y="2013508"/>
            <a:ext cx="4748666" cy="6419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400" b="0">
                <a:solidFill>
                  <a:srgbClr val="C8D4E8"/>
                </a:solidFill>
                <a:latin typeface="Calibri"/>
              </a:defRPr>
            </a:pPr>
            <a:r>
              <a:t>No supo a quién reportar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243" y="1371600"/>
            <a:ext cx="5333867" cy="1337310"/>
          </a:xfrm>
          <a:prstGeom prst="roundRect">
            <a:avLst>
              <a:gd name="adj" fmla="val 5000"/>
            </a:avLst>
          </a:prstGeom>
          <a:solidFill>
            <a:srgbClr val="122442"/>
          </a:solidFill>
          <a:ln w="9525">
            <a:solidFill>
              <a:srgbClr val="3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8243" y="1371600"/>
            <a:ext cx="134108" cy="133731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527" y="1467612"/>
            <a:ext cx="4748666" cy="5884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91,1%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527" y="2013508"/>
            <a:ext cx="4748666" cy="6419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400" b="0">
                <a:solidFill>
                  <a:srgbClr val="C8D4E8"/>
                </a:solidFill>
                <a:latin typeface="Calibri"/>
              </a:defRPr>
            </a:pPr>
            <a:r>
              <a:t>Ignoró el incidente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2928366"/>
            <a:ext cx="5333867" cy="1337310"/>
          </a:xfrm>
          <a:prstGeom prst="roundRect">
            <a:avLst>
              <a:gd name="adj" fmla="val 5000"/>
            </a:avLst>
          </a:prstGeom>
          <a:solidFill>
            <a:srgbClr val="122442"/>
          </a:solidFill>
          <a:ln w="9525">
            <a:solidFill>
              <a:srgbClr val="3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584" y="2928366"/>
            <a:ext cx="134108" cy="1337310"/>
          </a:xfrm>
          <a:prstGeom prst="rect">
            <a:avLst/>
          </a:prstGeom>
          <a:solidFill>
            <a:srgbClr val="5A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2868" y="3024378"/>
            <a:ext cx="4748666" cy="5884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64,4%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8" y="3570274"/>
            <a:ext cx="4748666" cy="6419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400" b="0">
                <a:solidFill>
                  <a:srgbClr val="C8D4E8"/>
                </a:solidFill>
                <a:latin typeface="Calibri"/>
              </a:defRPr>
            </a:pPr>
            <a:r>
              <a:t>No sabe usar el canal oficial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243" y="2928366"/>
            <a:ext cx="5333867" cy="1337310"/>
          </a:xfrm>
          <a:prstGeom prst="roundRect">
            <a:avLst>
              <a:gd name="adj" fmla="val 5000"/>
            </a:avLst>
          </a:prstGeom>
          <a:solidFill>
            <a:srgbClr val="122442"/>
          </a:solidFill>
          <a:ln w="9525">
            <a:solidFill>
              <a:srgbClr val="3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8243" y="2928366"/>
            <a:ext cx="134108" cy="1337310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527" y="3024378"/>
            <a:ext cx="4748666" cy="5884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8,0/10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527" y="3570274"/>
            <a:ext cx="4748666" cy="6419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400" b="0">
                <a:solidFill>
                  <a:srgbClr val="C8D4E8"/>
                </a:solidFill>
                <a:latin typeface="Calibri"/>
              </a:defRPr>
            </a:pPr>
            <a:r>
              <a:t>Impacto en la experiencia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4485132"/>
            <a:ext cx="5333867" cy="1337310"/>
          </a:xfrm>
          <a:prstGeom prst="roundRect">
            <a:avLst>
              <a:gd name="adj" fmla="val 5000"/>
            </a:avLst>
          </a:prstGeom>
          <a:solidFill>
            <a:srgbClr val="122442"/>
          </a:solidFill>
          <a:ln w="9525">
            <a:solidFill>
              <a:srgbClr val="3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584" y="4485132"/>
            <a:ext cx="134108" cy="1337310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2868" y="4581144"/>
            <a:ext cx="4748666" cy="5884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82,2%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8" y="5127040"/>
            <a:ext cx="4748666" cy="6419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400" b="0">
                <a:solidFill>
                  <a:srgbClr val="C8D4E8"/>
                </a:solidFill>
                <a:latin typeface="Calibri"/>
              </a:defRPr>
            </a:pPr>
            <a:r>
              <a:t>Ve 1–3 desperfectos / 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8243" y="4485132"/>
            <a:ext cx="5333867" cy="1337310"/>
          </a:xfrm>
          <a:prstGeom prst="roundRect">
            <a:avLst>
              <a:gd name="adj" fmla="val 5000"/>
            </a:avLst>
          </a:prstGeom>
          <a:solidFill>
            <a:srgbClr val="122442"/>
          </a:solidFill>
          <a:ln w="9525">
            <a:solidFill>
              <a:srgbClr val="35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48243" y="4485132"/>
            <a:ext cx="134108" cy="1337310"/>
          </a:xfrm>
          <a:prstGeom prst="rect">
            <a:avLst/>
          </a:prstGeom>
          <a:solidFill>
            <a:srgbClr val="4ED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527" y="4581144"/>
            <a:ext cx="4748666" cy="5884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91,1%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527" y="5127040"/>
            <a:ext cx="4748666" cy="6419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400" b="0">
                <a:solidFill>
                  <a:srgbClr val="C8D4E8"/>
                </a:solidFill>
                <a:latin typeface="Calibri"/>
              </a:defRPr>
            </a:pPr>
            <a:r>
              <a:t>Usaría EduFix en ~30 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Coste de no actuar vs oportunidad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39496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400" b="1">
                <a:solidFill>
                  <a:srgbClr val="D9531E"/>
                </a:solidFill>
                <a:latin typeface="Calibri"/>
              </a:defRPr>
            </a:pPr>
            <a:r>
              <a:t>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394960" cy="4114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000" b="0">
                <a:solidFill>
                  <a:srgbClr val="C8D4E8"/>
                </a:solidFill>
                <a:latin typeface="Calibri"/>
              </a:defRPr>
            </a:pPr>
            <a:r>
              <a:t>• Reporte opaco y lento</a:t>
            </a:r>
            <a:br/>
            <a:r>
              <a:t>• Datos no estandarizados</a:t>
            </a:r>
            <a:br/>
            <a:r>
              <a:t>• Poca trazabilidad para el usuario</a:t>
            </a:r>
            <a:br/>
            <a:r>
              <a:t>• Mantenimiento reacciona tarde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325880"/>
            <a:ext cx="539496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400" b="1">
                <a:solidFill>
                  <a:srgbClr val="1F8B63"/>
                </a:solidFill>
                <a:latin typeface="Calibri"/>
              </a:defRPr>
            </a:pPr>
            <a:r>
              <a:t>Con EduFix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5394960" cy="4114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000" b="0">
                <a:solidFill>
                  <a:srgbClr val="C8D4E8"/>
                </a:solidFill>
                <a:latin typeface="Calibri"/>
              </a:defRPr>
            </a:pPr>
            <a:r>
              <a:t>• 30 segundos para reportar</a:t>
            </a:r>
            <a:br/>
            <a:r>
              <a:t>• Foto + contexto estructurado</a:t>
            </a:r>
            <a:br/>
            <a:r>
              <a:t>• Estado visible para quien reporta</a:t>
            </a:r>
            <a:br/>
            <a:r>
              <a:t>• Cola priorizada para operaciones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828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4400" b="1">
                <a:solidFill>
                  <a:srgbClr val="D9531E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Solución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024128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600" b="0">
                <a:solidFill>
                  <a:srgbClr val="C8D4E8"/>
                </a:solidFill>
                <a:latin typeface="Calibri"/>
              </a:defRPr>
            </a:pPr>
            <a:r>
              <a:t>EduFix es el canal único y móvil para reportar desperfectos:</a:t>
            </a:r>
            <a:br/>
            <a:r>
              <a:t>menos fricción, más señal para mantenimiento y mejor experiencia de campus.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Por qué compran EduFix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333237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200" b="1">
                <a:solidFill>
                  <a:srgbClr val="D9531E"/>
                </a:solidFill>
                <a:latin typeface="Calibri"/>
              </a:defRPr>
            </a:pPr>
            <a:r>
              <a:t>Rapidez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3332378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700" b="0">
                <a:solidFill>
                  <a:srgbClr val="C8D4E8"/>
                </a:solidFill>
                <a:latin typeface="Calibri"/>
              </a:defRPr>
            </a:pPr>
            <a:r>
              <a:t>Flujo guiado. El usuario no pierde tiempo en formularios interminables.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1234440"/>
            <a:ext cx="333237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200" b="1">
                <a:solidFill>
                  <a:srgbClr val="D9531E"/>
                </a:solidFill>
                <a:latin typeface="Calibri"/>
              </a:defRPr>
            </a:pPr>
            <a:r>
              <a:t>Claridad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1801368"/>
            <a:ext cx="3332378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700" b="0">
                <a:solidFill>
                  <a:srgbClr val="C8D4E8"/>
                </a:solidFill>
                <a:latin typeface="Calibri"/>
              </a:defRPr>
            </a:pPr>
            <a:r>
              <a:t>Cada reporte llega con contexto homogéneo: menos idas y vueltas.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2076" y="1234440"/>
            <a:ext cx="333237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200" b="1">
                <a:solidFill>
                  <a:srgbClr val="D9531E"/>
                </a:solidFill>
                <a:latin typeface="Calibri"/>
              </a:defRPr>
            </a:pPr>
            <a:r>
              <a:t>Trazabilidad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2076" y="1801368"/>
            <a:ext cx="3332378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700" b="0">
                <a:solidFill>
                  <a:srgbClr val="C8D4E8"/>
                </a:solidFill>
                <a:latin typeface="Calibri"/>
              </a:defRPr>
            </a:pPr>
            <a:r>
              <a:t>Quien reporta ve que el caso existe y avanza: confianza institucional.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Cómo funciona (30 segundos)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333237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200" b="1">
                <a:solidFill>
                  <a:srgbClr val="D9531E"/>
                </a:solidFill>
                <a:latin typeface="Calibri"/>
              </a:defRPr>
            </a:pPr>
            <a:r>
              <a:t>1 · Captura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3332378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700" b="0">
                <a:solidFill>
                  <a:srgbClr val="C8D4E8"/>
                </a:solidFill>
                <a:latin typeface="Calibri"/>
              </a:defRPr>
            </a:pPr>
            <a:r>
              <a:t>Foto y categoría del problema en el lugar del hecho.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1234440"/>
            <a:ext cx="333237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200" b="1">
                <a:solidFill>
                  <a:srgbClr val="D9531E"/>
                </a:solidFill>
                <a:latin typeface="Calibri"/>
              </a:defRPr>
            </a:pPr>
            <a:r>
              <a:t>2 · Envío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1801368"/>
            <a:ext cx="3332378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700" b="0">
                <a:solidFill>
                  <a:srgbClr val="C8D4E8"/>
                </a:solidFill>
                <a:latin typeface="Calibri"/>
              </a:defRPr>
            </a:pPr>
            <a:r>
              <a:t>Un toque: el reporte entra a la cola oficial con geolocalización / área.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2076" y="1234440"/>
            <a:ext cx="333237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200" b="1">
                <a:solidFill>
                  <a:srgbClr val="D9531E"/>
                </a:solidFill>
                <a:latin typeface="Calibri"/>
              </a:defRPr>
            </a:pPr>
            <a:r>
              <a:t>3 · Cierre de ciclo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2076" y="1801368"/>
            <a:ext cx="3332378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700" b="0">
                <a:solidFill>
                  <a:srgbClr val="C8D4E8"/>
                </a:solidFill>
                <a:latin typeface="Calibri"/>
              </a:defRPr>
            </a:pPr>
            <a:r>
              <a:t>Notificación cuando hay avance o resolución.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Valor para cada 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333237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200" b="1">
                <a:solidFill>
                  <a:srgbClr val="D9531E"/>
                </a:solidFill>
                <a:latin typeface="Calibri"/>
              </a:defRPr>
            </a:pPr>
            <a:r>
              <a:t>Alumnos y docentes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3332378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700" b="0">
                <a:solidFill>
                  <a:srgbClr val="C8D4E8"/>
                </a:solidFill>
                <a:latin typeface="Calibri"/>
              </a:defRPr>
            </a:pPr>
            <a:r>
              <a:t>Menos fricción; sensación de campus cuidado.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1234440"/>
            <a:ext cx="333237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200" b="1">
                <a:solidFill>
                  <a:srgbClr val="D9531E"/>
                </a:solidFill>
                <a:latin typeface="Calibri"/>
              </a:defRPr>
            </a:pPr>
            <a:r>
              <a:t>Mantenimiento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1801368"/>
            <a:ext cx="3332378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700" b="0">
                <a:solidFill>
                  <a:srgbClr val="C8D4E8"/>
                </a:solidFill>
                <a:latin typeface="Calibri"/>
              </a:defRPr>
            </a:pPr>
            <a:r>
              <a:t>Tickets ordenados, con evidencia y menos ruido.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2076" y="1234440"/>
            <a:ext cx="333237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200" b="1">
                <a:solidFill>
                  <a:srgbClr val="D9531E"/>
                </a:solidFill>
                <a:latin typeface="Calibri"/>
              </a:defRPr>
            </a:pPr>
            <a:r>
              <a:t>Dirección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2076" y="1801368"/>
            <a:ext cx="3332378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700" b="0">
                <a:solidFill>
                  <a:srgbClr val="C8D4E8"/>
                </a:solidFill>
                <a:latin typeface="Calibri"/>
              </a:defRPr>
            </a:pPr>
            <a:r>
              <a:t>Métricas de demanda real y cumplimiento visible.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57200"/>
            <a:ext cx="1005840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¿Quién respondió? (muestra)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234440"/>
          <a:ext cx="1042416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57200"/>
            <a:ext cx="1005840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Qué duele del proceso actual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234440"/>
          <a:ext cx="1042416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600" b="1">
                <a:solidFill>
                  <a:srgbClr val="1F8B63"/>
                </a:solidFill>
                <a:latin typeface="Calibri"/>
              </a:defRPr>
            </a:pPr>
            <a:r>
              <a:t>El número que cierra la reunión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97280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11000" b="1">
                <a:solidFill>
                  <a:srgbClr val="4ED49E"/>
                </a:solidFill>
                <a:latin typeface="Calibri"/>
              </a:defRPr>
            </a:pPr>
            <a:r>
              <a:t>91,1%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05840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2400" b="0">
                <a:solidFill>
                  <a:srgbClr val="C8D4E8"/>
                </a:solidFill>
                <a:latin typeface="Calibri"/>
              </a:defRPr>
            </a:pPr>
            <a:r>
              <a:t>declaran que usarían EduFix si el reporte tomara unos 30 segundos.</a:t>
            </a:r>
            <a:br/>
            <a:r>
              <a:t>La demanda de una herramienta simple ya está validada.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5720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Percepción de utilidad e impacto (1–10)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143000"/>
          <a:ext cx="50749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960120"/>
            <a:ext cx="50749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600" b="1">
                <a:solidFill>
                  <a:srgbClr val="C8D4E8"/>
                </a:solidFill>
                <a:latin typeface="Calibri"/>
              </a:defRPr>
            </a:pPr>
            <a:r>
              <a:t>Utilidad (media 7,2)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1143000"/>
          <a:ext cx="507492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960120"/>
            <a:ext cx="50749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600" b="1">
                <a:solidFill>
                  <a:srgbClr val="C8D4E8"/>
                </a:solidFill>
                <a:latin typeface="Calibri"/>
              </a:defRPr>
            </a:pPr>
            <a:r>
              <a:t>Impacto entorno (media 8,0)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100584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Próximo 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332720" cy="4389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200" b="0">
                <a:solidFill>
                  <a:srgbClr val="C8D4E8"/>
                </a:solidFill>
                <a:latin typeface="Calibri"/>
              </a:defRPr>
            </a:pPr>
            <a:r>
              <a:t>• Piloto en un edificio o facultad (4–6 semanas).</a:t>
            </a:r>
            <a:br/>
            <a:r>
              <a:t>• Definir integración con mesa de ayuda / mantenimiento existente.</a:t>
            </a:r>
            <a:br/>
            <a:r>
              <a:t>• Métricas de adopción: reportes / semana, tiempo medio de cierre, satisfacción.</a:t>
            </a:r>
            <a:br/>
            <a:br/>
            <a:r>
              <a:t>Propuesta: demo en vivo + acceso al panel de datos que alimenta esta presentación.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3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1988"/>
            <a:ext cx="4063898" cy="96012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61988"/>
            <a:ext cx="4063898" cy="96012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61988"/>
            <a:ext cx="4063898" cy="96012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5156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51560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2200" b="0">
                <a:solidFill>
                  <a:srgbClr val="C8D4E8"/>
                </a:solidFill>
                <a:latin typeface="Calibri"/>
              </a:defRPr>
            </a:pPr>
            <a:r>
              <a:t>EduFix</a:t>
            </a:r>
            <a:br/>
            <a:r>
              <a:t>Reportes que se ven, se priorizan y se resuelven.</a:t>
            </a:r>
            <a:br/>
            <a:br/>
            <a:r>
              <a:t>405 respuestas · 21/04/2026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