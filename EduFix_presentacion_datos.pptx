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Respuestas</c:v>
                </c:pt>
              </c:strCache>
            </c:strRef>
          </c:tx>
          <c:spPr>
            <a:solidFill>
              <a:srgbClr val="D9531E"/>
            </a:solidFill>
          </c:spPr>
          <c:cat>
            <c:strRef>
              <c:f>Sheet1!$A$2:$A$5</c:f>
              <c:strCache>
                <c:ptCount val="4"/>
                <c:pt idx="0">
                  <c:v>Alumno</c:v>
                </c:pt>
                <c:pt idx="1">
                  <c:v>Docente</c:v>
                </c:pt>
                <c:pt idx="2">
                  <c:v>Administrativo</c:v>
                </c:pt>
                <c:pt idx="3">
                  <c:v>Mantenimiento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270</c:v>
                </c:pt>
                <c:pt idx="1">
                  <c:v>72</c:v>
                </c:pt>
                <c:pt idx="2">
                  <c:v>36</c:v>
                </c:pt>
                <c:pt idx="3">
                  <c:v>27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Menciones</c:v>
                </c:pt>
              </c:strCache>
            </c:strRef>
          </c:tx>
          <c:spPr>
            <a:solidFill>
              <a:srgbClr val="1F8B63"/>
            </a:solidFill>
          </c:spPr>
          <c:cat>
            <c:strRef>
              <c:f>Sheet1!$A$2:$A$4</c:f>
              <c:strCache>
                <c:ptCount val="3"/>
                <c:pt idx="0">
                  <c:v>Falta de respuesta</c:v>
                </c:pt>
                <c:pt idx="1">
                  <c:v>Lentitud</c:v>
                </c:pt>
                <c:pt idx="2">
                  <c:v>No saber si se esta trabajando en ello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144</c:v>
                </c:pt>
                <c:pt idx="1">
                  <c:v>135</c:v>
                </c:pt>
                <c:pt idx="2">
                  <c:v>126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Respuestas</c:v>
                </c:pt>
              </c:strCache>
            </c:strRef>
          </c:tx>
          <c:spPr>
            <a:solidFill>
              <a:srgbClr val="D9531E"/>
            </a:solidFill>
          </c:spPr>
          <c:cat>
            <c:strRef>
              <c:f>Sheet1!$A$2:$A$11</c:f>
              <c:strCach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</c:v>
                </c:pt>
                <c:pt idx="1">
                  <c:v>0</c:v>
                </c:pt>
                <c:pt idx="2">
                  <c:v>6</c:v>
                </c:pt>
                <c:pt idx="3">
                  <c:v>27</c:v>
                </c:pt>
                <c:pt idx="4">
                  <c:v>51</c:v>
                </c:pt>
                <c:pt idx="5">
                  <c:v>69</c:v>
                </c:pt>
                <c:pt idx="6">
                  <c:v>72</c:v>
                </c:pt>
                <c:pt idx="7">
                  <c:v>69</c:v>
                </c:pt>
                <c:pt idx="8">
                  <c:v>60</c:v>
                </c:pt>
                <c:pt idx="9">
                  <c:v>51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Respuestas</c:v>
                </c:pt>
              </c:strCache>
            </c:strRef>
          </c:tx>
          <c:spPr>
            <a:solidFill>
              <a:srgbClr val="1F8B63"/>
            </a:solidFill>
          </c:spPr>
          <c:cat>
            <c:strRef>
              <c:f>Sheet1!$A$2:$A$11</c:f>
              <c:strCach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405</c:v>
                </c:pt>
                <c:pt idx="8">
                  <c:v>0</c:v>
                </c:pt>
                <c:pt idx="9">
                  <c:v>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C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0" cy="6858000"/>
          </a:xfrm>
          <a:prstGeom prst="rect">
            <a:avLst/>
          </a:prstGeom>
          <a:solidFill>
            <a:srgbClr val="D95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75704"/>
            <a:ext cx="4063898" cy="82296"/>
          </a:xfrm>
          <a:prstGeom prst="rect">
            <a:avLst/>
          </a:prstGeom>
          <a:solidFill>
            <a:srgbClr val="D95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6775704"/>
            <a:ext cx="4063898" cy="82296"/>
          </a:xfrm>
          <a:prstGeom prst="rect">
            <a:avLst/>
          </a:prstGeom>
          <a:solidFill>
            <a:srgbClr val="1F8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6775704"/>
            <a:ext cx="4063898" cy="82296"/>
          </a:xfrm>
          <a:prstGeom prst="rect">
            <a:avLst/>
          </a:prstGeom>
          <a:solidFill>
            <a:srgbClr val="1F5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234440"/>
            <a:ext cx="10515600" cy="10972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defRPr sz="5400" b="1">
                <a:solidFill>
                  <a:srgbClr val="D9531E"/>
                </a:solidFill>
                <a:latin typeface="Calibri"/>
              </a:defRPr>
            </a:pPr>
            <a:r>
              <a:t>EduFix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1051560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Validación con datos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063240"/>
            <a:ext cx="10058400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defRPr sz="1600" b="0">
                <a:solidFill>
                  <a:srgbClr val="B8C5D9"/>
                </a:solidFill>
                <a:latin typeface="Calibri"/>
              </a:defRPr>
            </a:pPr>
            <a:r>
              <a:t>405 respuestas analizadas · 21/04/2026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657600"/>
            <a:ext cx="10058400" cy="10972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defRPr sz="1400" b="0">
                <a:solidFill>
                  <a:srgbClr val="B8C5D9"/>
                </a:solidFill>
                <a:latin typeface="Calibri"/>
              </a:defRPr>
            </a:pPr>
            <a:r>
              <a:t>Proceso de reporte de desperfectos en el campus: percepción,</a:t>
            </a:r>
            <a:br/>
            <a:r>
              <a:t>fricciones y disposición a una herramienta rápida (EduFix).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C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0" cy="6858000"/>
          </a:xfrm>
          <a:prstGeom prst="rect">
            <a:avLst/>
          </a:prstGeom>
          <a:solidFill>
            <a:srgbClr val="D95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75704"/>
            <a:ext cx="4063898" cy="82296"/>
          </a:xfrm>
          <a:prstGeom prst="rect">
            <a:avLst/>
          </a:prstGeom>
          <a:solidFill>
            <a:srgbClr val="D95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6775704"/>
            <a:ext cx="4063898" cy="82296"/>
          </a:xfrm>
          <a:prstGeom prst="rect">
            <a:avLst/>
          </a:prstGeom>
          <a:solidFill>
            <a:srgbClr val="1F8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6775704"/>
            <a:ext cx="4063898" cy="82296"/>
          </a:xfrm>
          <a:prstGeom prst="rect">
            <a:avLst/>
          </a:prstGeom>
          <a:solidFill>
            <a:srgbClr val="1F5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94360"/>
            <a:ext cx="274320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defRPr sz="3600" b="1">
                <a:solidFill>
                  <a:srgbClr val="D9531E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051560"/>
            <a:ext cx="10058400" cy="7315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Problema validado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10241280" cy="3840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defRPr sz="1500" b="0">
                <a:solidFill>
                  <a:srgbClr val="B8C5D9"/>
                </a:solidFill>
                <a:latin typeface="Calibri"/>
              </a:defRPr>
            </a:pPr>
            <a:r>
              <a:t>Más de 400 encuestas confirman que el proceso actual es ineficiente e informal.</a:t>
            </a:r>
            <a:br/>
            <a:br/>
            <a:r>
              <a:t>• Poca claridad sobre a quién escalar y cómo usar canales oficiales.</a:t>
            </a:r>
            <a:br/>
            <a:r>
              <a:t>• Comportamiento frecuente de ignorar el desperfecto.</a:t>
            </a:r>
            <a:br/>
            <a:r>
              <a:t>• Impacto notable en la experiencia en el entorno físico del campus.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C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0" cy="6858000"/>
          </a:xfrm>
          <a:prstGeom prst="rect">
            <a:avLst/>
          </a:prstGeom>
          <a:solidFill>
            <a:srgbClr val="D95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75704"/>
            <a:ext cx="4063898" cy="82296"/>
          </a:xfrm>
          <a:prstGeom prst="rect">
            <a:avLst/>
          </a:prstGeom>
          <a:solidFill>
            <a:srgbClr val="D95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6775704"/>
            <a:ext cx="4063898" cy="82296"/>
          </a:xfrm>
          <a:prstGeom prst="rect">
            <a:avLst/>
          </a:prstGeom>
          <a:solidFill>
            <a:srgbClr val="1F8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6775704"/>
            <a:ext cx="4063898" cy="82296"/>
          </a:xfrm>
          <a:prstGeom prst="rect">
            <a:avLst/>
          </a:prstGeom>
          <a:solidFill>
            <a:srgbClr val="1F5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57200"/>
            <a:ext cx="2286000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defRPr sz="3200" b="1">
                <a:solidFill>
                  <a:srgbClr val="D9531E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868680"/>
            <a:ext cx="10058400" cy="5943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Hallazgos principales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25880"/>
            <a:ext cx="1005840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defRPr sz="1200" b="0">
                <a:solidFill>
                  <a:srgbClr val="B8C5D9"/>
                </a:solidFill>
                <a:latin typeface="Calibri"/>
              </a:defRPr>
            </a:pPr>
            <a:r>
              <a:t>Validación — indicadores calculados sobre el dataset actual (sin alterar los datos fuente).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0543" y="1508760"/>
            <a:ext cx="5254621" cy="1371600"/>
          </a:xfrm>
          <a:prstGeom prst="roundRect">
            <a:avLst>
              <a:gd name="adj" fmla="val 6000"/>
            </a:avLst>
          </a:prstGeom>
          <a:solidFill>
            <a:srgbClr val="142848"/>
          </a:solidFill>
          <a:ln w="6350">
            <a:solidFill>
              <a:srgbClr val="304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70543" y="1508760"/>
            <a:ext cx="121916" cy="1371600"/>
          </a:xfrm>
          <a:prstGeom prst="rect">
            <a:avLst/>
          </a:prstGeom>
          <a:solidFill>
            <a:srgbClr val="D95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52" y="1632203"/>
            <a:ext cx="4705995" cy="5760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82,2%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52" y="2167128"/>
            <a:ext cx="4705995" cy="6172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defRPr sz="1100" b="0">
                <a:solidFill>
                  <a:srgbClr val="B8C5D9"/>
                </a:solidFill>
                <a:latin typeface="Calibri"/>
              </a:defRPr>
            </a:pPr>
            <a:r>
              <a:t>No supo a quién reportar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6531" y="1508760"/>
            <a:ext cx="5254621" cy="1371600"/>
          </a:xfrm>
          <a:prstGeom prst="roundRect">
            <a:avLst>
              <a:gd name="adj" fmla="val 6000"/>
            </a:avLst>
          </a:prstGeom>
          <a:solidFill>
            <a:srgbClr val="142848"/>
          </a:solidFill>
          <a:ln w="6350">
            <a:solidFill>
              <a:srgbClr val="304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6531" y="1508760"/>
            <a:ext cx="121916" cy="1371600"/>
          </a:xfrm>
          <a:prstGeom prst="rect">
            <a:avLst/>
          </a:prstGeom>
          <a:solidFill>
            <a:srgbClr val="E8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93240" y="1632203"/>
            <a:ext cx="4705995" cy="5760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91,1%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93240" y="2167128"/>
            <a:ext cx="4705995" cy="6172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defRPr sz="1100" b="0">
                <a:solidFill>
                  <a:srgbClr val="B8C5D9"/>
                </a:solidFill>
                <a:latin typeface="Calibri"/>
              </a:defRPr>
            </a:pPr>
            <a:r>
              <a:t>Ignoró el incidente directamente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0543" y="3154680"/>
            <a:ext cx="5254621" cy="1371600"/>
          </a:xfrm>
          <a:prstGeom prst="roundRect">
            <a:avLst>
              <a:gd name="adj" fmla="val 6000"/>
            </a:avLst>
          </a:prstGeom>
          <a:solidFill>
            <a:srgbClr val="142848"/>
          </a:solidFill>
          <a:ln w="6350">
            <a:solidFill>
              <a:srgbClr val="304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70543" y="3154680"/>
            <a:ext cx="121916" cy="1371600"/>
          </a:xfrm>
          <a:prstGeom prst="rect">
            <a:avLst/>
          </a:prstGeom>
          <a:solidFill>
            <a:srgbClr val="4A9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52" y="3278123"/>
            <a:ext cx="4705995" cy="5760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64,4%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52" y="3813048"/>
            <a:ext cx="4705995" cy="6172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defRPr sz="1100" b="0">
                <a:solidFill>
                  <a:srgbClr val="B8C5D9"/>
                </a:solidFill>
                <a:latin typeface="Calibri"/>
              </a:defRPr>
            </a:pPr>
            <a:r>
              <a:t>No sabe cómo usar el canal oficial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6531" y="3154680"/>
            <a:ext cx="5254621" cy="1371600"/>
          </a:xfrm>
          <a:prstGeom prst="roundRect">
            <a:avLst>
              <a:gd name="adj" fmla="val 6000"/>
            </a:avLst>
          </a:prstGeom>
          <a:solidFill>
            <a:srgbClr val="142848"/>
          </a:solidFill>
          <a:ln w="6350">
            <a:solidFill>
              <a:srgbClr val="304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6531" y="3154680"/>
            <a:ext cx="121916" cy="1371600"/>
          </a:xfrm>
          <a:prstGeom prst="rect">
            <a:avLst/>
          </a:prstGeom>
          <a:solidFill>
            <a:srgbClr val="1F8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93240" y="3278123"/>
            <a:ext cx="4705995" cy="5760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8,0/10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93240" y="3813048"/>
            <a:ext cx="4705995" cy="6172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defRPr sz="1100" b="0">
                <a:solidFill>
                  <a:srgbClr val="B8C5D9"/>
                </a:solidFill>
                <a:latin typeface="Calibri"/>
              </a:defRPr>
            </a:pPr>
            <a:r>
              <a:t>Impacto en la experiencia académica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70543" y="4800600"/>
            <a:ext cx="5254621" cy="1371600"/>
          </a:xfrm>
          <a:prstGeom prst="roundRect">
            <a:avLst>
              <a:gd name="adj" fmla="val 6000"/>
            </a:avLst>
          </a:prstGeom>
          <a:solidFill>
            <a:srgbClr val="142848"/>
          </a:solidFill>
          <a:ln w="6350">
            <a:solidFill>
              <a:srgbClr val="304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70543" y="4800600"/>
            <a:ext cx="121916" cy="1371600"/>
          </a:xfrm>
          <a:prstGeom prst="rect">
            <a:avLst/>
          </a:prstGeom>
          <a:solidFill>
            <a:srgbClr val="1F5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52" y="4924043"/>
            <a:ext cx="4705995" cy="5760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82,2%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52" y="5458968"/>
            <a:ext cx="4705995" cy="6172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defRPr sz="1100" b="0">
                <a:solidFill>
                  <a:srgbClr val="B8C5D9"/>
                </a:solidFill>
                <a:latin typeface="Calibri"/>
              </a:defRPr>
            </a:pPr>
            <a:r>
              <a:t>Detecta 1–3 desperfectos por mes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66531" y="4800600"/>
            <a:ext cx="5254621" cy="1371600"/>
          </a:xfrm>
          <a:prstGeom prst="roundRect">
            <a:avLst>
              <a:gd name="adj" fmla="val 6000"/>
            </a:avLst>
          </a:prstGeom>
          <a:solidFill>
            <a:srgbClr val="142848"/>
          </a:solidFill>
          <a:ln w="6350">
            <a:solidFill>
              <a:srgbClr val="304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66531" y="4800600"/>
            <a:ext cx="121916" cy="1371600"/>
          </a:xfrm>
          <a:prstGeom prst="rect">
            <a:avLst/>
          </a:prstGeom>
          <a:solidFill>
            <a:srgbClr val="4ED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93240" y="4924043"/>
            <a:ext cx="4705995" cy="5760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91,1%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93240" y="5458968"/>
            <a:ext cx="4705995" cy="6172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defRPr sz="1100" b="0">
                <a:solidFill>
                  <a:srgbClr val="B8C5D9"/>
                </a:solidFill>
                <a:latin typeface="Calibri"/>
              </a:defRPr>
            </a:pPr>
            <a:r>
              <a:t>Usaría EduFix si tardara 30 segundos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C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0" cy="6858000"/>
          </a:xfrm>
          <a:prstGeom prst="rect">
            <a:avLst/>
          </a:prstGeom>
          <a:solidFill>
            <a:srgbClr val="D95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75704"/>
            <a:ext cx="4063898" cy="82296"/>
          </a:xfrm>
          <a:prstGeom prst="rect">
            <a:avLst/>
          </a:prstGeom>
          <a:solidFill>
            <a:srgbClr val="D95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6775704"/>
            <a:ext cx="4063898" cy="82296"/>
          </a:xfrm>
          <a:prstGeom prst="rect">
            <a:avLst/>
          </a:prstGeom>
          <a:solidFill>
            <a:srgbClr val="1F8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6775704"/>
            <a:ext cx="4063898" cy="82296"/>
          </a:xfrm>
          <a:prstGeom prst="rect">
            <a:avLst/>
          </a:prstGeom>
          <a:solidFill>
            <a:srgbClr val="1F5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02920"/>
            <a:ext cx="10058400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Composición por rol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822960" y="1325880"/>
          <a:ext cx="1042416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C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0" cy="6858000"/>
          </a:xfrm>
          <a:prstGeom prst="rect">
            <a:avLst/>
          </a:prstGeom>
          <a:solidFill>
            <a:srgbClr val="D95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75704"/>
            <a:ext cx="4063898" cy="82296"/>
          </a:xfrm>
          <a:prstGeom prst="rect">
            <a:avLst/>
          </a:prstGeom>
          <a:solidFill>
            <a:srgbClr val="D95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6775704"/>
            <a:ext cx="4063898" cy="82296"/>
          </a:xfrm>
          <a:prstGeom prst="rect">
            <a:avLst/>
          </a:prstGeom>
          <a:solidFill>
            <a:srgbClr val="1F8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6775704"/>
            <a:ext cx="4063898" cy="82296"/>
          </a:xfrm>
          <a:prstGeom prst="rect">
            <a:avLst/>
          </a:prstGeom>
          <a:solidFill>
            <a:srgbClr val="1F5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02920"/>
            <a:ext cx="10058400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Mayor frustración con los reportes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822960" y="1325880"/>
          <a:ext cx="1042416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C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0" cy="6858000"/>
          </a:xfrm>
          <a:prstGeom prst="rect">
            <a:avLst/>
          </a:prstGeom>
          <a:solidFill>
            <a:srgbClr val="D95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75704"/>
            <a:ext cx="4063898" cy="82296"/>
          </a:xfrm>
          <a:prstGeom prst="rect">
            <a:avLst/>
          </a:prstGeom>
          <a:solidFill>
            <a:srgbClr val="D95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6775704"/>
            <a:ext cx="4063898" cy="82296"/>
          </a:xfrm>
          <a:prstGeom prst="rect">
            <a:avLst/>
          </a:prstGeom>
          <a:solidFill>
            <a:srgbClr val="1F8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6775704"/>
            <a:ext cx="4063898" cy="82296"/>
          </a:xfrm>
          <a:prstGeom prst="rect">
            <a:avLst/>
          </a:prstGeom>
          <a:solidFill>
            <a:srgbClr val="1F5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02920"/>
            <a:ext cx="10058400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Utilidad percibida de la app (media 7,2)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822960" y="1325880"/>
          <a:ext cx="1042416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C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0" cy="6858000"/>
          </a:xfrm>
          <a:prstGeom prst="rect">
            <a:avLst/>
          </a:prstGeom>
          <a:solidFill>
            <a:srgbClr val="D95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75704"/>
            <a:ext cx="4063898" cy="82296"/>
          </a:xfrm>
          <a:prstGeom prst="rect">
            <a:avLst/>
          </a:prstGeom>
          <a:solidFill>
            <a:srgbClr val="D95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6775704"/>
            <a:ext cx="4063898" cy="82296"/>
          </a:xfrm>
          <a:prstGeom prst="rect">
            <a:avLst/>
          </a:prstGeom>
          <a:solidFill>
            <a:srgbClr val="1F8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6775704"/>
            <a:ext cx="4063898" cy="82296"/>
          </a:xfrm>
          <a:prstGeom prst="rect">
            <a:avLst/>
          </a:prstGeom>
          <a:solidFill>
            <a:srgbClr val="1F5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02920"/>
            <a:ext cx="10058400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Impacto del entorno descuidado (media 8,0)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822960" y="1325880"/>
          <a:ext cx="1042416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C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0" cy="6858000"/>
          </a:xfrm>
          <a:prstGeom prst="rect">
            <a:avLst/>
          </a:prstGeom>
          <a:solidFill>
            <a:srgbClr val="D95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75704"/>
            <a:ext cx="4063898" cy="82296"/>
          </a:xfrm>
          <a:prstGeom prst="rect">
            <a:avLst/>
          </a:prstGeom>
          <a:solidFill>
            <a:srgbClr val="D95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6775704"/>
            <a:ext cx="4063898" cy="82296"/>
          </a:xfrm>
          <a:prstGeom prst="rect">
            <a:avLst/>
          </a:prstGeom>
          <a:solidFill>
            <a:srgbClr val="1F8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6775704"/>
            <a:ext cx="4063898" cy="82296"/>
          </a:xfrm>
          <a:prstGeom prst="rect">
            <a:avLst/>
          </a:prstGeom>
          <a:solidFill>
            <a:srgbClr val="1F5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94360"/>
            <a:ext cx="10058400" cy="7315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Síntesis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25880"/>
            <a:ext cx="10241280" cy="4572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defRPr sz="1500" b="0">
                <a:solidFill>
                  <a:srgbClr val="B8C5D9"/>
                </a:solidFill>
                <a:latin typeface="Calibri"/>
              </a:defRPr>
            </a:pPr>
            <a:r>
              <a:t>• 82,2% no supo a quién reportar.</a:t>
            </a:r>
            <a:br/>
            <a:r>
              <a:t>• 91,1% suele ignorar el desperfecto.</a:t>
            </a:r>
            <a:br/>
            <a:r>
              <a:t>• 64,4% no sabe usar el canal oficial.</a:t>
            </a:r>
            <a:br/>
            <a:r>
              <a:t>• Impacto medio en experiencia: 8,0/10.</a:t>
            </a:r>
            <a:br/>
            <a:r>
              <a:t>• 91,1% usaría EduFix si el reporte tomara ~30 s.</a:t>
            </a:r>
            <a:br/>
            <a:br/>
            <a:r>
              <a:t>EduFix concentra foto + contexto + notificación para cerrar el ciclo con trazabilidad y menor fricción para alumnos, docentes y mantenimiento.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C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0" cy="6858000"/>
          </a:xfrm>
          <a:prstGeom prst="rect">
            <a:avLst/>
          </a:prstGeom>
          <a:solidFill>
            <a:srgbClr val="D95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75704"/>
            <a:ext cx="4063898" cy="82296"/>
          </a:xfrm>
          <a:prstGeom prst="rect">
            <a:avLst/>
          </a:prstGeom>
          <a:solidFill>
            <a:srgbClr val="D95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6775704"/>
            <a:ext cx="4063898" cy="82296"/>
          </a:xfrm>
          <a:prstGeom prst="rect">
            <a:avLst/>
          </a:prstGeom>
          <a:solidFill>
            <a:srgbClr val="1F8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6775704"/>
            <a:ext cx="4063898" cy="82296"/>
          </a:xfrm>
          <a:prstGeom prst="rect">
            <a:avLst/>
          </a:prstGeom>
          <a:solidFill>
            <a:srgbClr val="1F5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11680"/>
            <a:ext cx="10515600" cy="9144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Gracias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063240"/>
            <a:ext cx="10058400" cy="1371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defRPr sz="1600" b="0">
                <a:solidFill>
                  <a:srgbClr val="B8C5D9"/>
                </a:solidFill>
                <a:latin typeface="Calibri"/>
              </a:defRPr>
            </a:pPr>
            <a:r>
              <a:t>EduFix — reportes claros, rápidos y accionables.</a:t>
            </a:r>
            <a:br/>
            <a:br/>
            <a:r>
              <a:t>Dataset: 405 respuestas · Generado 21/04/2026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